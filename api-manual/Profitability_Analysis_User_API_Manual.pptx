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7432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User Management API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algun Gothic"/>
              </a:defRPr>
            </a:pPr>
            <a:r>
              <a:t>Profitability Analysis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646464"/>
                </a:solidFill>
                <a:latin typeface="Malgun Gothic"/>
              </a:defRPr>
            </a:pPr>
            <a:r>
              <a:t>Version: v1.0</a:t>
            </a:r>
          </a:p>
          <a:p>
            <a:pPr>
              <a:spcAft>
                <a:spcPts val="330"/>
              </a:spcAft>
              <a:defRPr sz="1100" b="0">
                <a:solidFill>
                  <a:srgbClr val="646464"/>
                </a:solidFill>
                <a:latin typeface="Malgun Gothic"/>
              </a:defRPr>
            </a:pPr>
            <a:r>
              <a:t>Date: 2026-05-21</a:t>
            </a:r>
          </a:p>
          <a:p>
            <a:pPr>
              <a:spcAft>
                <a:spcPts val="330"/>
              </a:spcAft>
              <a:defRPr sz="1100" b="0">
                <a:solidFill>
                  <a:srgbClr val="646464"/>
                </a:solidFill>
                <a:latin typeface="Malgun Gothic"/>
              </a:defRPr>
            </a:pPr>
            <a:r>
              <a:t>Author: Kleannara DX Team</a:t>
            </a:r>
          </a:p>
          <a:p>
            <a:pPr>
              <a:spcAft>
                <a:spcPts val="330"/>
              </a:spcAft>
              <a:defRPr sz="1100" b="0">
                <a:solidFill>
                  <a:srgbClr val="646464"/>
                </a:solidFill>
                <a:latin typeface="Malgun Gothic"/>
              </a:defRPr>
            </a:pPr>
            <a:r>
              <a:t>For: Groupware Integration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1. Overview (개요)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2. Authentication (인증)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3. API Endpoint Summary (API 목록)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4. API 1: 전체 사용자 조회 (GET /api/users)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5. API 2: 개별 사용자 조회 (GET /api/users/:userId)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6. API 3: 대량 사용자 생성 (POST /api/users/bulk)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7. API 4: 대량 사용자 수정 (PUT /api/users/bulk)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8. API 5: 대량 사용자 비활성화 (DELETE /api/users/bulk)</a:t>
            </a:r>
          </a:p>
          <a:p>
            <a:pPr>
              <a:spcAft>
                <a:spcPts val="420"/>
              </a:spcAft>
              <a:defRPr sz="1400" b="0">
                <a:solidFill>
                  <a:srgbClr val="1E1E1E"/>
                </a:solidFill>
                <a:latin typeface="Malgun Gothic"/>
              </a:defRPr>
            </a:pPr>
            <a:r>
              <a:t>9. 공통 응답 코드 / 데이터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1. Overview (개요)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t>Profitability Analysis 시스템의 사용자 관리 API입니다.</a:t>
            </a:r>
          </a:p>
          <a:p>
            <a:pPr>
              <a:spcAft>
                <a:spcPts val="359"/>
              </a:spcAft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t>그룹웨어 시스템에서 사용자 정보를 동기화하기 위한 CRUD API를 제공합니다.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CA0"/>
                </a:solidFill>
                <a:latin typeface="Malgun Gothic"/>
              </a:defRPr>
            </a:pPr>
            <a:r>
              <a:t>Base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8229600" cy="45720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https://3000-i4uffs666lw2u0w31ha6d-b9b802c4.sandbox.novita.ai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CA0"/>
                </a:solidFill>
                <a:latin typeface="Malgun Gothic"/>
              </a:defRPr>
            </a:pPr>
            <a:r>
              <a:t>API Endpoints (5개)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8229600" cy="164592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GET    /api/users          # 전체 사용자 조회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GET    /api/users/:userId  # 개별 사용자 조회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POST   /api/users/bulk     # 대량 사용자 생성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PUT    /api/users/bulk     # 대량 사용자 수정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DELETE /api/users/bulk     # 대량 사용자 비활성화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73152" cy="548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5394960"/>
            <a:ext cx="8156448" cy="5486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000">
                <a:solidFill>
                  <a:srgbClr val="193CA0"/>
                </a:solidFill>
                <a:latin typeface="Malgun Gothic"/>
              </a:defRPr>
            </a:pPr>
            <a:r>
              <a:t>NOTE: 생성/수정/삭제는 동일 URL(/api/users/bulk)이며, HTTP Method(POST/PUT/DELETE)로 구분합니다.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2. Authentication (인증)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Malgun Gothic"/>
              </a:defRPr>
            </a:pPr>
            <a:r>
              <a:t>모든 사용자 관리 API는 아래 헤더를 반드시 포함해야 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93192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Header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Content-Type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application/json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요청 데이터 형식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X-API-KEY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gw-kleannara-2026-secure-api-key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API 인증 키 (필수)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CA0"/>
                </a:solidFill>
                <a:latin typeface="Malgun Gothic"/>
              </a:defRPr>
            </a:pPr>
            <a:r>
              <a:t>인증 실패 시 응답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8229600" cy="118872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"success": false,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"error": "API Key가 유효하지 않습니다.",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"code": "INVALID_API_KEY"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3. API Endpoint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97280"/>
                <a:gridCol w="320040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전체 사용자 조회 (페이지네이션, 필터)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/api/users/:userId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개별 사용자 조회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/api/users/bulk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대량 사용자 생성 (등록)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PUT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/api/users/bulk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대량 사용자 수정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/api/users/bulk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대량 사용자 비활성화 (삭제)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CA0"/>
                </a:solidFill>
                <a:latin typeface="Malgun Gothic"/>
              </a:defRPr>
            </a:pPr>
            <a:r>
              <a:t>URL 구분 (동일 URL, 다른 Method)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9319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HTTP Method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/api/users/bulk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생성 (Create) - 새 사용자 등록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PUT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/api/users/bulk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수정 (Update) - 기존 사용자 정보 변경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/api/users/bulk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비활성화 (Soft Delete) - is_active=0 처리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4. 전체 사용자 조회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" cy="32004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tIns="25400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onsolas"/>
              </a:defRPr>
            </a:pPr>
            <a:r>
              <a:t>/api/users?page=1&amp;limit=500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CA0"/>
                </a:solidFill>
                <a:latin typeface="Malgun Gothic"/>
              </a:defRPr>
            </a:pPr>
            <a:r>
              <a:t>Query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73736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097280"/>
                <a:gridCol w="44805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Default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페이지 번호 (1부터)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number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페이지당 건수 (최소 1, 최대 500)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is_active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활성 상태 필터 (1=활성, 0=비활성)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권한 필터 (admin, user, viewer)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부서 필터 (정확 일치)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search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검색 (user_id, name, email 부분일치)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A0"/>
                </a:solidFill>
                <a:latin typeface="Malgun Gothic"/>
              </a:defRPr>
            </a:pPr>
            <a:r>
              <a:t>4. 전체 사용자 조회 - 요청 예시</a:t>
            </a:r>
          </a:p>
        </p:txBody>
      </p:sp>
      <p:pic>
        <p:nvPicPr>
          <p:cNvPr id="3" name="Picture 2" descr="img1_query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114800" cy="1760041"/>
          </a:xfrm>
          <a:prstGeom prst="rect">
            <a:avLst/>
          </a:prstGeom>
        </p:spPr>
      </p:pic>
      <p:pic>
        <p:nvPicPr>
          <p:cNvPr id="4" name="Picture 3" descr="img2_get_all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297680" cy="5373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A0"/>
                </a:solidFill>
                <a:latin typeface="Malgun Gothic"/>
              </a:defRPr>
            </a:pPr>
            <a:r>
              <a:t>4. 전체 사용자 조회 - 응답 형식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8229600" cy="530352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"success": true,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"data": [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{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"id": 1,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"user_id": "admin",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"name": "관리자",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"email": null,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"department": null,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"phone": null,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"position": null,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"role": "admin",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"is_active": 1,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"sso_yn": 0,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"created_at": "2026-05-20T07:09:57.000Z",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    "updated_at": "2026-05-20T08:24:32.000Z"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},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    ...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"pagination": { "page": 1, "limit": 500, "totalCount": 8, "totalPages": 1 }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5. 개별 사용자 조회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" cy="32004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tIns="25400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onsolas"/>
              </a:defRPr>
            </a:pPr>
            <a:r>
              <a:t>/api/users/djseo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Full URL: https://3000-i4uffs666lw2u0w31ha6d-b9b802c4.sandbox.novita.ai/api/users/djseo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4114800" cy="411480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// Response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"success": true,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"data": {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"id": 3,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"user_id": "djseo",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"name": "서동준",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"email": "djseo@kleannara.com",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"department": "경영기획팀",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"phone": "010-1234-5678",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"position": "차장",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"role": "user",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"is_active": 1,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  "sso_yn": 1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0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  <p:pic>
        <p:nvPicPr>
          <p:cNvPr id="7" name="Picture 6" descr="img3_get_single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297680" cy="44452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6. 대량 사용자 생성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" cy="320040"/>
          </a:xfrm>
          <a:prstGeom prst="roundRect">
            <a:avLst/>
          </a:prstGeom>
          <a:solidFill>
            <a:srgbClr val="49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tIns="25400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onsolas"/>
              </a:defRPr>
            </a:pPr>
            <a:r>
              <a:t>/api/users/bulk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Full URL: https://3000-i4uffs666lw2u0w31ha6d-b9b802c4.sandbox.novita.ai/api/users/bulk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93CA0"/>
                </a:solidFill>
                <a:latin typeface="Malgun Gothic"/>
              </a:defRPr>
            </a:pPr>
            <a:r>
              <a:t>Request Body Fields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10312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1440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Required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users[].userId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사용자 ID (로그인 아이디)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users[].name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사용자 이름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비밀번호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users[].email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이메일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부서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users[].phone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연락처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직급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users[].role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권한 (admin/user/viewer, 기본: user)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users[].sso_yn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SSO 연동 여부 (0/1, 기본: 0)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A0"/>
                </a:solidFill>
                <a:latin typeface="Malgun Gothic"/>
              </a:defRPr>
            </a:pPr>
            <a:r>
              <a:t>6. 대량 사용자 생성 - Request /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CA0"/>
                </a:solidFill>
                <a:latin typeface="Malgun Gothic"/>
              </a:defRPr>
            </a:pPr>
            <a:r>
              <a:t>Request Body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206240" cy="365760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"users": [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"userId": "testuser1",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"name": "테스트유저1",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"password": "test1234!",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"department": "개발팀",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"position": "사원",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"role": "user"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"userId": "testuser2",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"name": "테스트유저2",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"password": "test1234!",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"email": "test2@kleannara.com"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CA0"/>
                </a:solidFill>
                <a:latin typeface="Malgun Gothic"/>
              </a:defRPr>
            </a:pPr>
            <a:r>
              <a:t>Response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4206240" cy="256032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"success": true,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"totalCount": 2,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"successCount": 2,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"failCount": 0,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"results": [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"userId": "testuser1",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"status": "success",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"message": "created"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},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"userId": "testuser2",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"status": "success",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"message": "created"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029200"/>
            <a:ext cx="73152" cy="548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5029200"/>
            <a:ext cx="8522208" cy="5486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000">
                <a:solidFill>
                  <a:srgbClr val="193CA0"/>
                </a:solidFill>
                <a:latin typeface="Malgun Gothic"/>
              </a:defRPr>
            </a:pPr>
            <a:r>
              <a:t>NOTE: 비활성화된 동일 userId 존재 시 자동 재활성화(reactivated). 활성 중 동일 userId는 실패(already exists).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7. 대량 사용자 수정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" cy="320040"/>
          </a:xfrm>
          <a:prstGeom prst="roundRect">
            <a:avLst/>
          </a:prstGeom>
          <a:solidFill>
            <a:srgbClr val="E6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tIns="25400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onsolas"/>
              </a:defRPr>
            </a:pPr>
            <a:r>
              <a:t>/api/users/bulk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Full URL: https://3000-i4uffs666lw2u0w31ha6d-b9b802c4.sandbox.novita.ai/api/users/bulk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t>- userId: 수정 대상 식별 (필수)</a:t>
            </a:r>
          </a:p>
          <a:p>
            <a:pPr>
              <a:spcAft>
                <a:spcPts val="330"/>
              </a:spcAft>
              <a:defRPr sz="1100" b="0">
                <a:solidFill>
                  <a:srgbClr val="1E1E1E"/>
                </a:solidFill>
                <a:latin typeface="Malgun Gothic"/>
              </a:defRPr>
            </a:pPr>
            <a:r>
              <a:t>- 나머지 필드: 변경하고 싶은 항목만 전달 (전달하지 않은 필드는 기존 값 유지)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560320"/>
          <a:ext cx="8595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914400"/>
                <a:gridCol w="42062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Required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users[].userId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수정 대상 사용자 ID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users[].name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이름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비밀번호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users[].email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이메일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부서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users[].phone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연락처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직급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users[].role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변경할 권한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users[].is_active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number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활성 상태 (1=활성, 0=비활성)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A0"/>
                </a:solidFill>
                <a:latin typeface="Malgun Gothic"/>
              </a:defRPr>
            </a:pPr>
            <a:r>
              <a:t>7. 대량 사용자 수정 - 요청 예시</a:t>
            </a:r>
          </a:p>
        </p:txBody>
      </p:sp>
      <p:pic>
        <p:nvPicPr>
          <p:cNvPr id="3" name="Picture 2" descr="img4_put_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84878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8. 대량 사용자 비활성화 (삭제)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68680"/>
            <a:ext cx="822960" cy="320040"/>
          </a:xfrm>
          <a:prstGeom prst="roundRect">
            <a:avLst/>
          </a:prstGeom>
          <a:solidFill>
            <a:srgbClr val="D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tIns="25400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onsolas"/>
              </a:defRPr>
            </a:pPr>
            <a:r>
              <a:t>/api/users/bulk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6464"/>
                </a:solidFill>
                <a:latin typeface="Consolas"/>
              </a:defRPr>
            </a:pPr>
            <a:r>
              <a:t>Full URL: https://3000-i4uffs666lw2u0w31ha6d-b9b802c4.sandbox.novita.ai/api/users/bulk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73152" cy="5486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737360"/>
            <a:ext cx="8156448" cy="5486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defRPr sz="1000">
                <a:solidFill>
                  <a:srgbClr val="193CA0"/>
                </a:solidFill>
                <a:latin typeface="Malgun Gothic"/>
              </a:defRPr>
            </a:pPr>
            <a:r>
              <a:t>IMPORTANT: 실제 삭제가 아닌 Soft Delete (is_active: 1→0). PUT API로 is_active: 1 설정 시 복구 가능.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3CA0"/>
                </a:solidFill>
                <a:latin typeface="Malgun Gothic"/>
              </a:defRPr>
            </a:pPr>
            <a:r>
              <a:t>Request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3657600" cy="82296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    "userIds": ["testuser1", "testuser2"]</a:t>
            </a:r>
          </a:p>
          <a:p>
            <a:pPr>
              <a:spcAft>
                <a:spcPts val="200"/>
              </a:spcAft>
              <a:defRPr sz="11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3CA0"/>
                </a:solidFill>
                <a:latin typeface="Malgun Gothic"/>
              </a:defRPr>
            </a:pPr>
            <a:r>
              <a:t>Response Body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834640"/>
            <a:ext cx="4114800" cy="228600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"success": true,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"totalCount": 1,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"successCount": 1,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"failCount": 0,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"results": [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"userId": "testuser1",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"status": "success",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"message": "deactivated"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3CA0"/>
                </a:solidFill>
                <a:latin typeface="Malgun Gothic"/>
              </a:defRPr>
            </a:pPr>
            <a:r>
              <a:t>복구 방법 (PUT 사용)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3657600" cy="1188720"/>
          </a:xfrm>
          <a:prstGeom prst="roundRect">
            <a:avLst/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 bIns="101600"/>
          <a:lstStyle/>
          <a:p>
            <a:pPr algn="ctr"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PUT /api/users/bulk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"users": [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{ "userId": "testuser1",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    "is_active": 1 }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  ]</a:t>
            </a:r>
          </a:p>
          <a:p>
            <a:pPr>
              <a:spcAft>
                <a:spcPts val="200"/>
              </a:spcAft>
              <a:defRPr sz="9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A0"/>
                </a:solidFill>
                <a:latin typeface="Malgun Gothic"/>
              </a:defRPr>
            </a:pPr>
            <a:r>
              <a:t>8. 대량 사용자 비활성화 - 요청 예시</a:t>
            </a:r>
          </a:p>
        </p:txBody>
      </p:sp>
      <p:pic>
        <p:nvPicPr>
          <p:cNvPr id="3" name="Picture 2" descr="img5_de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8426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93CA0"/>
                </a:solidFill>
                <a:latin typeface="Malgun Gothic"/>
              </a:defRPr>
            </a:pPr>
            <a:r>
              <a:t>9. 공통 응답 코드 / 데이터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3CA0"/>
                </a:solidFill>
                <a:latin typeface="Malgun Gothic"/>
              </a:defRPr>
            </a:pPr>
            <a:r>
              <a:t>HTTP Response Codes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49377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요청 성공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400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Bad Request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잘못된 요청 (필수 필드 누락)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Unauthorized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API Key 인증 실패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404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Not Found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사용자를 찾을 수 없음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Server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서버 내부 오류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93CA0"/>
                </a:solidFill>
                <a:latin typeface="Malgun Gothic"/>
              </a:defRPr>
            </a:pPr>
            <a:r>
              <a:t>Users Table Schema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02336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914400"/>
                <a:gridCol w="265176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Column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Required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962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VARCHAR(50)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로그인 아이디 (UNIQUE)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사용자 이름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VARCHAR(255)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비밀번호 (SSO는 NULL)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email / department / phone / position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VARCHAR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부가 정보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ENUM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admin / user / viewer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is_active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TINYINT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1=활성, 0=비활성</a:t>
                      </a:r>
                    </a:p>
                  </a:txBody>
                  <a:tcPr anchor="ctr">
                    <a:solidFill>
                      <a:srgbClr val="E6F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sso_yn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TINYINT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Malgun Gothic"/>
                        </a:defRPr>
                      </a:pPr>
                      <a:r>
                        <a:t>1=SSO, 0=일반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